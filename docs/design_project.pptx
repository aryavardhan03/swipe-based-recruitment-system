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6"/>
  </p:notesMasterIdLst>
  <p:handoutMasterIdLst>
    <p:handoutMasterId r:id="rId27"/>
  </p:handoutMasterIdLst>
  <p:sldIdLst>
    <p:sldId id="507" r:id="rId2"/>
    <p:sldId id="1027" r:id="rId3"/>
    <p:sldId id="1012" r:id="rId4"/>
    <p:sldId id="1013" r:id="rId5"/>
    <p:sldId id="1044" r:id="rId6"/>
    <p:sldId id="1014" r:id="rId7"/>
    <p:sldId id="1015" r:id="rId8"/>
    <p:sldId id="1034" r:id="rId9"/>
    <p:sldId id="1036" r:id="rId10"/>
    <p:sldId id="1037" r:id="rId11"/>
    <p:sldId id="1011" r:id="rId12"/>
    <p:sldId id="1045" r:id="rId13"/>
    <p:sldId id="1026" r:id="rId14"/>
    <p:sldId id="1033" r:id="rId15"/>
    <p:sldId id="1038" r:id="rId16"/>
    <p:sldId id="1039" r:id="rId17"/>
    <p:sldId id="1040" r:id="rId18"/>
    <p:sldId id="1041" r:id="rId19"/>
    <p:sldId id="1025" r:id="rId20"/>
    <p:sldId id="1042" r:id="rId21"/>
    <p:sldId id="1046" r:id="rId22"/>
    <p:sldId id="1047" r:id="rId23"/>
    <p:sldId id="1043" r:id="rId24"/>
    <p:sldId id="1035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88213" autoAdjust="0"/>
  </p:normalViewPr>
  <p:slideViewPr>
    <p:cSldViewPr snapToGrid="0">
      <p:cViewPr varScale="1">
        <p:scale>
          <a:sx n="78" d="100"/>
          <a:sy n="78" d="100"/>
        </p:scale>
        <p:origin x="744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5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ieee8023/covid-chestxray-datas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BC6A5-F5D8-82C0-F28F-C70BA469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548680"/>
            <a:ext cx="4032448" cy="138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769" y="1930080"/>
            <a:ext cx="9704008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defRPr/>
            </a:pPr>
            <a:r>
              <a:rPr lang="en-IN" sz="2800" dirty="0">
                <a:latin typeface="Times New Roman"/>
                <a:cs typeface="Times New Roman"/>
              </a:rPr>
              <a:t>Team Members: 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defRPr/>
            </a:pPr>
            <a:r>
              <a:rPr lang="en-IN" sz="2400" dirty="0">
                <a:ea typeface="+mn-lt"/>
                <a:cs typeface="+mn-lt"/>
              </a:rPr>
              <a:t>1. </a:t>
            </a:r>
            <a:r>
              <a:rPr lang="en-IN" sz="2800" dirty="0">
                <a:latin typeface="Times New Roman"/>
                <a:cs typeface="Times New Roman"/>
              </a:rPr>
              <a:t>Rishit Rajan Shukla- 2023BCSE07AED244</a:t>
            </a:r>
          </a:p>
          <a:p>
            <a:pPr lvl="1" algn="just">
              <a:defRPr/>
            </a:pPr>
            <a:r>
              <a:rPr lang="en-IN" dirty="0">
                <a:ea typeface="+mn-lt"/>
                <a:cs typeface="+mn-lt"/>
              </a:rPr>
              <a:t>2.</a:t>
            </a:r>
            <a:r>
              <a:rPr lang="en-IN" dirty="0">
                <a:latin typeface="Times New Roman"/>
                <a:ea typeface="+mn-lt"/>
                <a:cs typeface="Times New Roman"/>
              </a:rPr>
              <a:t> Devansh Khare – 2023BCSE07AED237</a:t>
            </a:r>
            <a:endParaRPr lang="en-IN" dirty="0">
              <a:latin typeface="Calibri"/>
              <a:cs typeface="Calibri"/>
            </a:endParaRPr>
          </a:p>
          <a:p>
            <a:pPr lvl="1" algn="just">
              <a:defRPr/>
            </a:pPr>
            <a:r>
              <a:rPr lang="en-IN" dirty="0">
                <a:cs typeface="Calibri"/>
              </a:rPr>
              <a:t>3.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Aryavardhan Singh Shekhawat – 2023BCSE07AED260</a:t>
            </a:r>
            <a:endParaRPr lang="en-IN" dirty="0">
              <a:latin typeface="Times New Roman"/>
              <a:cs typeface="Times New Roman"/>
            </a:endParaRP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Name of the Mentor: Ms. Swetha C.B.</a:t>
            </a:r>
            <a:endParaRPr lang="en-IN" sz="3200" dirty="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3200" dirty="0">
                <a:latin typeface="Bookman Old Style"/>
              </a:rPr>
              <a:t>5CS1990/5IT1990 Design Project -1 </a:t>
            </a:r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6346663" cy="7491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B4D15-7CC6-7FC1-55FD-0F2189C0E0B4}"/>
              </a:ext>
            </a:extLst>
          </p:cNvPr>
          <p:cNvSpPr txBox="1"/>
          <p:nvPr/>
        </p:nvSpPr>
        <p:spPr>
          <a:xfrm>
            <a:off x="1178943" y="371924"/>
            <a:ext cx="59407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u="sng" dirty="0">
                <a:solidFill>
                  <a:schemeClr val="bg1">
                    <a:lumMod val="50000"/>
                  </a:schemeClr>
                </a:solidFill>
              </a:rPr>
              <a:t>Swipe-Based Recruitment System with Compatibility Algorithm and Career Guidance</a:t>
            </a:r>
            <a:endParaRPr lang="en-IN" sz="2400" b="1" u="sn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(Refer minimum of 10 Recent Journal / Conference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Min. of 10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922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EF467-3DED-5C3E-3710-75BDCDED7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E0918-9E46-2259-4003-1C1F5C38D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0CDE2EC-C718-38FA-0BFA-8998AAA7147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4800" y="1482025"/>
            <a:ext cx="115824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Recruitment in traditional job portals is time-consuming and inefficient.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rely on keyword searches, ignoring deeper candidate-job compatibility.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proposes an AI-powered recruitment app with a swipe-based interface inspired by dating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a compatibility algorithm that matches resumes with job postings using AI and NLP.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is provided to underqualified candidates by recommending resources for upskilling.</a:t>
            </a:r>
          </a:p>
        </p:txBody>
      </p:sp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88E58-E75E-48AB-59FF-CADAC7590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395784"/>
              </p:ext>
            </p:extLst>
          </p:nvPr>
        </p:nvGraphicFramePr>
        <p:xfrm>
          <a:off x="322053" y="1247955"/>
          <a:ext cx="11377649" cy="507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64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9435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S.No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 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82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 Zhang et al., IEEE Access, 2021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+ Job embeddings, FAISS retrieval, reranking model.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scalability, retrieval speed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deep semantic similarity, scalable, near real-time.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large infra, resume standardization, low transparency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82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Gupta et al., IEEE Transactions on Knowledge and Data Engineering, 2024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Nash Social Welfare optimization, envy-free algorithms.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 fairness, precision, recall.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bias, ensures fairness, balances candidate/employer needs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to implement, may reduce efficiency, parameter tuning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82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Li et al., Elsevier Expert Systems with Applications, 2023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learning, feedback-driven adaptation.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Matching accuracy, learning efficiency.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from interactions, benefits both sides, adaptive.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Domain-specific, costly, requires feedback loop.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  <a:tr h="82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Kumar et al., ACM Transactions on Information </a:t>
                      </a:r>
                      <a:r>
                        <a:rPr lang="fr-FR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Systems</a:t>
                      </a:r>
                      <a:r>
                        <a:rPr lang="fr-F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Neural Networks + Attention mechanisms.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Precision, recall, </a:t>
                      </a:r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nDCG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r>
                        <a:rPr lang="fr-F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  <a:r>
                        <a:rPr lang="fr-F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relations, </a:t>
                      </a:r>
                      <a:r>
                        <a:rPr lang="fr-FR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contextual</a:t>
                      </a:r>
                      <a:r>
                        <a:rPr lang="fr-F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fr-FR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</a:t>
                      </a:r>
                      <a:r>
                        <a:rPr lang="fr-F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computation, scaling issues, limited off-the-shelf.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47015230"/>
                  </a:ext>
                </a:extLst>
              </a:tr>
              <a:tr h="82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da-DK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Roy et al., Springer AI &amp; Society, 2023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NLP-based resume &amp; job parsing, AI recommendation.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engagement, recommendation accuracy.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support, personalized, improves UX.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candidate-focused, weak mutual logic, API reliance.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264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1FCE-F411-40B6-D034-BE4F4A94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7A8B24-E35A-DFA6-381D-1BC42791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2AFA7-054B-3916-056E-D04940E95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086F42-70AE-22BF-11AE-076BD8CFB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298971"/>
              </p:ext>
            </p:extLst>
          </p:nvPr>
        </p:nvGraphicFramePr>
        <p:xfrm>
          <a:off x="427703" y="1135626"/>
          <a:ext cx="11356929" cy="5095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948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S.No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 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8293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Chen et al., IEEE Access, 2025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 + NLP + ML for resume parsing and job similarity.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 relevance, precision, recall.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pipeline, upskilling suggestions, improved relevance.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 accuracy issues, resume quality sensitive, static.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8293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7.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t-IT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Singh et al., IEEE Access, 2025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(2010–2023) job recommendation methods.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Coverage of methods, identified gaps.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Comprehensive, shows strengths/weaknesses, gaps.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new model, no deployment focus, limited mobile view.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8293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Wang et al., Springer Neural Computing and Applications, 2024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+ skill embeddings + attention.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skill relevance.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Skill-focused, interpretable, strong performance.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datasets needed, costly, complex for SMEs.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  <a:tr h="8293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Patel et al., Elsevier Information Processing &amp; Management, 2024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-semantic fusion, session-based model.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Adaptation speed, accuracy, precision.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Tracks evolving preferences, fuses signals, real-time.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storage, compute heavy, balancing signals hard.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17129342"/>
                  </a:ext>
                </a:extLst>
              </a:tr>
              <a:tr h="8293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10.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Brown et al., ACM SIGIR Conference Proceedings, 2023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+ Reinforcement learning for job generation.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Personalization, </a:t>
                      </a:r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nDCG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precision.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Cutting-edge LLM, feedback-based, highly personalized.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Expensive, experimental, low scalability.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264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51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9" y="4471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24A7D1-392B-981E-7690-910B4162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A54F015-5949-366F-3DF6-DF2BD9FFBDC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666" y="1713038"/>
            <a:ext cx="11575966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recruitment systems focus heavily on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matching efficiency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do not provide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underqualified candidates.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methods like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embeddings, GNNs, transformers, and reinforcement learning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significantly improved the accuracy and personalization of job recommendations.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papers address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reciprocal fairness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employers and candidates, which is critical for mutual satisfaction in recruitment.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solutions require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large-scale datasets and high computational resources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difficult for small organizations to adopt.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and real-time adaptation of recommendations (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preference drift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is still a growing research area, showing gaps in practical recruitment platforms.</a:t>
            </a:r>
          </a:p>
        </p:txBody>
      </p:sp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6052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0B1F0-D8A2-D976-9BE1-AD0775496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350E365-9AD7-73C0-D0AC-7C4CDE61EBA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6814" y="2135384"/>
            <a:ext cx="11099320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lack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adaptability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fail to keep up with evolving candidate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reliance on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and computational power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many solutions impractical for small and medium enterprises.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approaches provide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or explainability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hard for users to trust AI-driven matches.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or upskilling suggestions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leaving underqualified candidates unsupported.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Fairness-focused models often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trade off efficiency for equity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reduces practical usability in fast-paced recruitment environments.</a:t>
            </a:r>
          </a:p>
        </p:txBody>
      </p:sp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D748EC2-0E19-19E5-74C1-715D74C4B2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3554" y="1578868"/>
            <a:ext cx="10619521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job recommendation systems use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resume-text matching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lack adaptability.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one-sided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only on candidates and not on employer preferences.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are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optimized for mobile or interactive use.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features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limited and not linked to real growth paths.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mobile-first, AI-driven recruitment app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compatibility matching, mutual selection, and skill guidance.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recruitment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ensures accurate matching, fairness, and career guidance to improve hiring outcomes for both candidates and employers.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02A27-548C-EB9F-75AC-048696640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F4E7462-E281-B1FB-5044-8A526DA357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8733" y="1712514"/>
            <a:ext cx="11337463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mobile-first recruitment app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 swipe-based interface for intuitive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compatibility algorithm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matches resumes with job postings using embeddings and NLP.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resume forwarding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whenever a candidate swipes right on a company.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module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suggesting resources and courses for underqualified candidates.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 and scalable system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ensuring equal opportunities for candidates and employers with future AI integration.</a:t>
            </a:r>
          </a:p>
        </p:txBody>
      </p:sp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456403"/>
            <a:ext cx="10972800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FD9CF-9FEC-A241-0CC4-FD113EF5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894A11A-35EC-3D05-134D-83731D86E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0551" y="1715660"/>
            <a:ext cx="11175032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simplify and modernize recruitment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an engaging and user-friendly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match accuracy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AI, embeddings, and NLP rather than simple keyword searches.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candidates’ career growth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suggesting pathways for underqualified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fairness in recruitment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balanced benefits for candidates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scalable framework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capable of integrating future AI advancements (e.g., transformers, reinforcement learning).</a:t>
            </a:r>
          </a:p>
        </p:txBody>
      </p:sp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9ADDD87-2C18-EE42-CE3D-D4FB9F838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76" y="1338686"/>
            <a:ext cx="11423117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1. User &amp; Data Layer (System Initialization)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Registration &amp; Data Collection: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Candidates and Employers register, upload resumes and post jobs.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Resume Parsing: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Use NLP to extract candidate skills, education, and experience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2. AI Core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Compatibility Algorithm: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Apply AI (embeddings + contextual analysis) to match resumes and job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Threshold Check: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Filter candidates/jobs with a high compatibility score for the swipe interface, otherwise direct underqualified candidates to career guidance (Step 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3. Interaction &amp; Confirmation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Swipe Interaction: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Candidates and Employers swipe right/left on recommended profiles/jobs.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Match &amp; Exchange: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On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mutual right swipe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, automatically confirm the match and forward the resume/exchange contact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4. Value-Add &amp;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Career Guidance: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Suggest resources and courses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underqualified candidates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to upskill.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Feedback Loop: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 "/>
              </a:rPr>
              <a:t> Dynamically refine the AI recommendation model based on all swipe history and successful match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E5492F-C064-B06C-3F2A-4EB8DBCC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45" y="271135"/>
            <a:ext cx="5911970" cy="798539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 "/>
              </a:rPr>
              <a:t>Methodology 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1AF6E-9E63-FB2B-66C5-4EEA4547C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30601A-F372-D48E-106B-1136947D9C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938069"/>
            <a:ext cx="11804650" cy="290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9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7598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B551C13-07BF-D6BA-D214-FED0B103CD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4758" y="2017826"/>
            <a:ext cx="911390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i5/ Ryzen 5+, 16 GB RAM, 512 GB SSD, Windows/macOS/Linux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Devices: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Android 10–14, iPhone 11+ (iOS 16+)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(Server):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4–8 cores CPU, 8–32 GB RAM, 100–500 GB SSD</a:t>
            </a:r>
          </a:p>
        </p:txBody>
      </p:sp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91B301C-E074-B5EC-70B5-2A435865EB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0765" y="1710049"/>
            <a:ext cx="836043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Android/iOS or Flutter; swipe UI, login &amp; profiles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Node.js/Python + PostgreSQL/MongoDB; REST APIs; secure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parsing, matching algorithm, career guidance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&amp; Tools: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AWS/GCP/Azure; Android Studio/Xcode; Git; testing tools</a:t>
            </a:r>
          </a:p>
        </p:txBody>
      </p:sp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421F7-34F6-B423-BD32-6AFD7732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5BFB1-5898-3A1A-D1CD-35D4D16F0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651" y="1115683"/>
            <a:ext cx="8012885" cy="51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832" y="324271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88A92-D094-DFA8-C37F-55F638A10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E4ACACA-3251-FC53-4FAA-ADA727B596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051" y="1776085"/>
            <a:ext cx="73855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Module (Candidates):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Swipe, resume upload, career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Swipe candidates, job posting, profile filtering.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Embedding-based AI matching.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Upskilling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&amp; job storage</a:t>
            </a:r>
          </a:p>
        </p:txBody>
      </p:sp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589" y="488843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81696-053B-0369-CCCB-94A69D7BF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326EB8E-28F4-16A4-99FE-7ABC1E439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542" y="1871076"/>
            <a:ext cx="787465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swipe-based recruitment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compatibility scoring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bridging the gap for underqualified candidates.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fairness and transparency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recruitment.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mobile-first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34" y="1865947"/>
            <a:ext cx="10034105" cy="35629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introduces a swipe-based recruitment platform that simplifies the hiring process for both candidates and employers.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compatibility scoring helps match candidates with suitable job opportunities more efficiently.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real-time interaction and communication between matched users through integrated chat functionality.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modern UI design with intelligent matching, the platform improves user engagement and recruitment efficiency.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demonstrates how technology can transform traditional recruitment into a faster and more interactive experience.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20" y="368073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EDFA5-D4F7-CF5E-05CA-F1D090EE9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Authors, Year, Title of the Paper, Journal / Conference, Volume and Page Details, DOI (Samples are given below)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Kong, W., &amp; Agarwal, P.P. (2020). Chest imaging appearance of COVID-19 infection. Radiology: Cardiothoracic Imaging, 2(1).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Li, Y., &amp; Xia, L. (2020). Coronavirus Disease 2019 (COVID-19): Role of chest CT in diagnosis and management. American Journal of Roentgenology, 1–7.</a:t>
            </a: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Mooney, P. (2020). Kaggle chest x-ray images (pneumonia) dataset, </a:t>
            </a:r>
            <a:r>
              <a:rPr lang="en-US" sz="2100" u="none" strike="noStrike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https://github.com/ieee8023/covid-chestxray-datase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Parnian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Afshar., Shahin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Heidarian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Farnoosh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Naderkhani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Anastasia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Oikonomou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Konstantinos, N.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Plataniotis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&amp;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Arash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Mohammadi. (2020). COVID-CAPS: A capsule network-based framework for identification of COVID-19 cases from X-ray images, Pattern Recognition Letters, 138, 638–643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Singhal, T. (2020). A review of corona virus disease-2019 (COVID-19). Indian Journal of Pediatrics, 87, 281– 286. 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endParaRPr lang="en-IN" sz="180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DEA0B-E191-D187-0E57-F98A779E2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621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ACBCA-7175-4B4F-1E27-85287EF57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109001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D33044-C03C-818D-CC2F-45857937B7AE}"/>
              </a:ext>
            </a:extLst>
          </p:cNvPr>
          <p:cNvSpPr txBox="1"/>
          <p:nvPr/>
        </p:nvSpPr>
        <p:spPr>
          <a:xfrm>
            <a:off x="3324045" y="1203187"/>
            <a:ext cx="4099859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Authentication System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&amp; Password based authentication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 selection (Candidate / Employer)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Firebase Authentication integration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login &amp; session handling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BB2FBC-AE49-240F-67FC-095DA39EC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40" y="937404"/>
            <a:ext cx="2852305" cy="5647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EC13C4-2FB3-068D-1675-44D792ABF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619" y="937404"/>
            <a:ext cx="3118170" cy="56477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7A2E4B-B60F-9909-EB05-CB1FFDEBC220}"/>
              </a:ext>
            </a:extLst>
          </p:cNvPr>
          <p:cNvSpPr txBox="1"/>
          <p:nvPr/>
        </p:nvSpPr>
        <p:spPr>
          <a:xfrm>
            <a:off x="5037826" y="3993128"/>
            <a:ext cx="392981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2.Candidate Swipe Interface</a:t>
            </a:r>
          </a:p>
          <a:p>
            <a:pPr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job feed from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Swipe right = Like job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Swipe left = Reject job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Compatibility score calculated via NLP logic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Mutual like creates a match</a:t>
            </a:r>
          </a:p>
        </p:txBody>
      </p:sp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565D66E-EB93-25D2-45B3-14FD2D385BDE}"/>
              </a:ext>
            </a:extLst>
          </p:cNvPr>
          <p:cNvSpPr txBox="1"/>
          <p:nvPr/>
        </p:nvSpPr>
        <p:spPr>
          <a:xfrm>
            <a:off x="3173151" y="667843"/>
            <a:ext cx="3436471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3.Employer Swipe Interface</a:t>
            </a:r>
          </a:p>
          <a:p>
            <a:pPr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Fetches candidate profiles from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Swipe right = Shortlist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Swipe left = Reject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Mutual swipe creates match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database update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D2F1C2-05AD-785D-981B-E871BD08B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01" y="334030"/>
            <a:ext cx="2916309" cy="63605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132405-1D6B-6C7B-E45F-019622099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731" y="379562"/>
            <a:ext cx="2859467" cy="63150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6B5796-20DF-E6FB-EEB9-21DFF35E6E6F}"/>
              </a:ext>
            </a:extLst>
          </p:cNvPr>
          <p:cNvSpPr txBox="1"/>
          <p:nvPr/>
        </p:nvSpPr>
        <p:spPr>
          <a:xfrm>
            <a:off x="4891386" y="4339630"/>
            <a:ext cx="401507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My Matches Screen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Displays all mutually matched candidates and employers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compatibility score for each match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“Open Chat” button allows real-time communication between matched users</a:t>
            </a:r>
          </a:p>
        </p:txBody>
      </p:sp>
    </p:spTree>
    <p:extLst>
      <p:ext uri="{BB962C8B-B14F-4D97-AF65-F5344CB8AC3E}">
        <p14:creationId xmlns:p14="http://schemas.microsoft.com/office/powerpoint/2010/main" val="296497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308F7F-E1FD-DEEE-9254-A88533C84C8F}"/>
              </a:ext>
            </a:extLst>
          </p:cNvPr>
          <p:cNvSpPr txBox="1"/>
          <p:nvPr/>
        </p:nvSpPr>
        <p:spPr>
          <a:xfrm>
            <a:off x="167341" y="5240838"/>
            <a:ext cx="386677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5.AI-Based Career Guidance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Skill gap identification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Suggested learning resources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Career improvement recommendations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integration with NLP resume parsing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3D06BB-DFAE-61E6-C919-794E276367A9}"/>
              </a:ext>
            </a:extLst>
          </p:cNvPr>
          <p:cNvSpPr txBox="1"/>
          <p:nvPr/>
        </p:nvSpPr>
        <p:spPr>
          <a:xfrm>
            <a:off x="4375097" y="5240838"/>
            <a:ext cx="317350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6.Resume Upload &amp; Storage</a:t>
            </a:r>
          </a:p>
          <a:p>
            <a:pPr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Resume stored in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Linked using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candidateId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Timestamp stored using server time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Extendable to NLP skill extraction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1B57A1-4475-B4DF-5DB0-B5BFD9E8DF4E}"/>
              </a:ext>
            </a:extLst>
          </p:cNvPr>
          <p:cNvSpPr txBox="1"/>
          <p:nvPr/>
        </p:nvSpPr>
        <p:spPr>
          <a:xfrm>
            <a:off x="8618071" y="5240838"/>
            <a:ext cx="346635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7.Employer Job Posting System</a:t>
            </a:r>
          </a:p>
          <a:p>
            <a:pPr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create job listings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Required skills stored as array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Experience requirement added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Stored in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jobs collection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BBEB3B-428D-8DEA-B938-3B34A1141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14" y="150000"/>
            <a:ext cx="2835775" cy="5005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AEDE95-2532-8898-2C5F-AEF0A0F42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692" y="150000"/>
            <a:ext cx="2729511" cy="50058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6AFEB1-2822-699A-3789-87BB4A25E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59" y="150000"/>
            <a:ext cx="2729511" cy="500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Paper (If any)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D9FB3-6EC2-DEB2-9BE4-5349E73E5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2126</Words>
  <Application>Microsoft Office PowerPoint</Application>
  <PresentationFormat>Widescreen</PresentationFormat>
  <Paragraphs>244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Bookman Old Style</vt:lpstr>
      <vt:lpstr>Calibri</vt:lpstr>
      <vt:lpstr>Times New Roman</vt:lpstr>
      <vt:lpstr>Times New Roman 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Methodology Flowchart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Conclusion</vt:lpstr>
      <vt:lpstr> References  </vt:lpstr>
      <vt:lpstr>  Implementation </vt:lpstr>
      <vt:lpstr>PowerPoint Presentation</vt:lpstr>
      <vt:lpstr>PowerPoint Presentation</vt:lpstr>
      <vt:lpstr>  Survey Paper (If any) </vt:lpstr>
      <vt:lpstr>  Plagiarism Report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Aryavardhan Singh Shekhawat</cp:lastModifiedBy>
  <cp:revision>23</cp:revision>
  <cp:lastPrinted>2020-11-26T03:04:06Z</cp:lastPrinted>
  <dcterms:created xsi:type="dcterms:W3CDTF">2008-12-05T06:42:08Z</dcterms:created>
  <dcterms:modified xsi:type="dcterms:W3CDTF">2026-03-11T09:33:24Z</dcterms:modified>
</cp:coreProperties>
</file>